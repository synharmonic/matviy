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2"/>
  </p:notesMasterIdLst>
  <p:sldIdLst>
    <p:sldId id="256" r:id="rId2"/>
    <p:sldId id="258" r:id="rId3"/>
    <p:sldId id="261" r:id="rId4"/>
    <p:sldId id="264" r:id="rId5"/>
    <p:sldId id="268" r:id="rId6"/>
    <p:sldId id="269" r:id="rId7"/>
    <p:sldId id="265" r:id="rId8"/>
    <p:sldId id="270" r:id="rId9"/>
    <p:sldId id="260" r:id="rId10"/>
    <p:sldId id="262" r:id="rId11"/>
  </p:sldIdLst>
  <p:sldSz cx="9144000" cy="6858000" type="screen4x3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C66FA-2C94-41A3-8DEE-33C7329BCB2E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649AD-7699-46AC-8BBD-F5F60335E9B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0319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649AD-7699-46AC-8BBD-F5F60335E9B0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10992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F224-AAE3-48E2-90F6-DFBC67A5BBE9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5E218-A9C1-4A29-9183-1335A7E3023C}" type="slidenum">
              <a:rPr lang="uk-UA" smtClean="0"/>
              <a:t>‹#›</a:t>
            </a:fld>
            <a:endParaRPr lang="uk-UA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0BF224-AAE3-48E2-90F6-DFBC67A5BBE9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A595E218-A9C1-4A29-9183-1335A7E3023C}" type="slidenum">
              <a:rPr lang="uk-UA" smtClean="0"/>
              <a:t>‹#›</a:t>
            </a:fld>
            <a:endParaRPr lang="uk-UA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F224-AAE3-48E2-90F6-DFBC67A5BBE9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5E218-A9C1-4A29-9183-1335A7E3023C}" type="slidenum">
              <a:rPr lang="uk-UA" smtClean="0"/>
              <a:t>‹#›</a:t>
            </a:fld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F224-AAE3-48E2-90F6-DFBC67A5BBE9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5E218-A9C1-4A29-9183-1335A7E3023C}" type="slidenum">
              <a:rPr lang="uk-UA" smtClean="0"/>
              <a:t>‹#›</a:t>
            </a:fld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5E218-A9C1-4A29-9183-1335A7E3023C}" type="slidenum">
              <a:rPr lang="uk-UA" smtClean="0"/>
              <a:t>‹#›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F224-AAE3-48E2-90F6-DFBC67A5BBE9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F224-AAE3-48E2-90F6-DFBC67A5BBE9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5E218-A9C1-4A29-9183-1335A7E3023C}" type="slidenum">
              <a:rPr lang="uk-UA" smtClean="0"/>
              <a:t>‹#›</a:t>
            </a:fld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F224-AAE3-48E2-90F6-DFBC67A5BBE9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5E218-A9C1-4A29-9183-1335A7E3023C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0BF224-AAE3-48E2-90F6-DFBC67A5BBE9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595E218-A9C1-4A29-9183-1335A7E3023C}" type="slidenum">
              <a:rPr lang="uk-UA" smtClean="0"/>
              <a:t>‹#›</a:t>
            </a:fld>
            <a:endParaRPr lang="uk-UA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F224-AAE3-48E2-90F6-DFBC67A5BBE9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5E218-A9C1-4A29-9183-1335A7E3023C}" type="slidenum">
              <a:rPr lang="uk-UA" smtClean="0"/>
              <a:t>‹#›</a:t>
            </a:fld>
            <a:endParaRPr lang="uk-UA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F224-AAE3-48E2-90F6-DFBC67A5BBE9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5E218-A9C1-4A29-9183-1335A7E3023C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BF224-AAE3-48E2-90F6-DFBC67A5BBE9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5E218-A9C1-4A29-9183-1335A7E3023C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A0BF224-AAE3-48E2-90F6-DFBC67A5BBE9}" type="datetimeFigureOut">
              <a:rPr lang="uk-UA" smtClean="0"/>
              <a:t>24.01.2026</a:t>
            </a:fld>
            <a:endParaRPr lang="uk-UA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A595E218-A9C1-4A29-9183-1335A7E3023C}" type="slidenum">
              <a:rPr lang="uk-UA" smtClean="0"/>
              <a:t>‹#›</a:t>
            </a:fld>
            <a:endParaRPr lang="uk-UA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tbreeder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96135" y="5157192"/>
            <a:ext cx="2503191" cy="1143000"/>
          </a:xfrm>
        </p:spPr>
        <p:txBody>
          <a:bodyPr/>
          <a:lstStyle/>
          <a:p>
            <a:r>
              <a:rPr lang="uk-UA" dirty="0" smtClean="0"/>
              <a:t>Підготував Петрук Матвій</a:t>
            </a:r>
          </a:p>
          <a:p>
            <a:r>
              <a:rPr lang="uk-UA" dirty="0" smtClean="0"/>
              <a:t>ІПЗ-25</a:t>
            </a:r>
            <a:endParaRPr lang="uk-UA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1700808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uk-UA" dirty="0" smtClean="0"/>
              <a:t/>
            </a:r>
            <a:br>
              <a:rPr lang="uk-UA" dirty="0" smtClean="0"/>
            </a:br>
            <a:r>
              <a:rPr lang="uk-UA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Майбутнє ШІ у 2026: </a:t>
            </a:r>
            <a:br>
              <a:rPr lang="uk-UA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що чекає на нас після проривів 2025 року?</a:t>
            </a:r>
            <a:r>
              <a:rPr lang="uk-UA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uk-UA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uk-UA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564904"/>
            <a:ext cx="7327726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201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424936" cy="828328"/>
          </a:xfrm>
        </p:spPr>
        <p:txBody>
          <a:bodyPr>
            <a:noAutofit/>
          </a:bodyPr>
          <a:lstStyle/>
          <a:p>
            <a:pPr algn="ctr"/>
            <a:r>
              <a:rPr lang="uk-UA" sz="3200" b="1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Чи варто сліпо довіряти штучному </a:t>
            </a:r>
            <a:r>
              <a:rPr lang="uk-UA" sz="3200" b="1" dirty="0" smtClean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інтелекту?</a:t>
            </a:r>
            <a:endParaRPr lang="uk-UA" sz="32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546848" cy="471331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85000" lnSpcReduction="10000"/>
          </a:bodyPr>
          <a:lstStyle/>
          <a:p>
            <a:pPr marL="0" indent="450000" algn="just">
              <a:spcBef>
                <a:spcPts val="0"/>
              </a:spcBef>
              <a:buNone/>
            </a:pPr>
            <a:r>
              <a:rPr lang="uk-UA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Технології штучного інтелекту дедалі більше проникають у різні сфери діяльності, проте надійними їх можна назвати далеко не завжди. </a:t>
            </a:r>
            <a:endParaRPr lang="uk-UA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0000" algn="just">
              <a:spcBef>
                <a:spcPts val="0"/>
              </a:spcBef>
              <a:buNone/>
            </a:pPr>
            <a:r>
              <a:rPr lang="uk-UA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Інколи </a:t>
            </a:r>
            <a:r>
              <a:rPr lang="uk-UA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штучний інтелект помиляється, спотворює факти, щось вигадує. </a:t>
            </a:r>
            <a:endParaRPr lang="uk-UA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0000" algn="just">
              <a:spcBef>
                <a:spcPts val="0"/>
              </a:spcBef>
              <a:buNone/>
            </a:pPr>
            <a:r>
              <a:rPr lang="uk-UA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Згідно </a:t>
            </a:r>
            <a:r>
              <a:rPr lang="uk-UA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 опитуванням, проведеним торік серед </a:t>
            </a:r>
            <a:r>
              <a:rPr lang="uk-UA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здобувачів освіти </a:t>
            </a:r>
            <a:r>
              <a:rPr lang="uk-UA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«Марафону ІТ-технологій від 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EPAM», 95% </a:t>
            </a:r>
            <a:r>
              <a:rPr lang="uk-UA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респондентів вважають ШІ помічником, однак майже половина з них мали справу з так званими галюцинаціями. 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484784"/>
            <a:ext cx="3600400" cy="195798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501008"/>
            <a:ext cx="3528392" cy="2736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0727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1556790"/>
            <a:ext cx="5266928" cy="4539209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0" indent="450000" algn="just">
              <a:spcBef>
                <a:spcPts val="0"/>
              </a:spcBef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Після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проривів 2025 року у 2026 році штучний інтелект стане базовим інструментом для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всіх сфер життя. </a:t>
            </a:r>
          </a:p>
          <a:p>
            <a:pPr marL="0" indent="450000" algn="just">
              <a:spcBef>
                <a:spcPts val="0"/>
              </a:spcBef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ШІ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лише допомагатиме писати код, а й братиме участь у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проєктуванні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тестуванні та підтримці програмних систем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450000" algn="just">
              <a:spcBef>
                <a:spcPts val="0"/>
              </a:spcBef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ШІ взагалі буде брати участь у всьому. 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0000" algn="just">
              <a:spcBef>
                <a:spcPts val="0"/>
              </a:spcBef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 живемо зараз використовуючи ШІ у повсякденному житті.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sz="4000" b="1" spc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Майбутнє ШІ у 2026 році</a:t>
            </a:r>
            <a:endParaRPr lang="uk-UA" sz="4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1556791"/>
            <a:ext cx="3024336" cy="453650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169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822920"/>
          </a:xfrm>
        </p:spPr>
        <p:txBody>
          <a:bodyPr/>
          <a:lstStyle/>
          <a:p>
            <a:pPr algn="ctr"/>
            <a:r>
              <a:rPr lang="ru-RU" sz="3800" dirty="0" err="1">
                <a:ln w="3200">
                  <a:solidFill>
                    <a:srgbClr val="444D26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rgbClr val="FFFF00"/>
                </a:solidFill>
              </a:rPr>
              <a:t>Автономні</a:t>
            </a:r>
            <a:r>
              <a:rPr lang="ru-RU" sz="3800" dirty="0">
                <a:ln w="3200">
                  <a:solidFill>
                    <a:srgbClr val="444D26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rgbClr val="FFFF00"/>
                </a:solidFill>
              </a:rPr>
              <a:t> AI-</a:t>
            </a:r>
            <a:r>
              <a:rPr lang="ru-RU" sz="3800" dirty="0" err="1">
                <a:ln w="3200">
                  <a:solidFill>
                    <a:srgbClr val="444D26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rgbClr val="FFFF00"/>
                </a:solidFill>
              </a:rPr>
              <a:t>агенти</a:t>
            </a:r>
            <a:r>
              <a:rPr lang="ru-RU" sz="3800" dirty="0">
                <a:ln w="3200">
                  <a:solidFill>
                    <a:srgbClr val="444D26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rgbClr val="FFFF00"/>
                </a:solidFill>
              </a:rPr>
              <a:t> в </a:t>
            </a:r>
            <a:r>
              <a:rPr lang="ru-RU" sz="3800" dirty="0" err="1">
                <a:ln w="3200">
                  <a:solidFill>
                    <a:srgbClr val="444D26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rgbClr val="FFFF00"/>
                </a:solidFill>
              </a:rPr>
              <a:t>розробці</a:t>
            </a:r>
            <a:r>
              <a:rPr lang="ru-RU" sz="3800" dirty="0">
                <a:ln w="3200">
                  <a:solidFill>
                    <a:srgbClr val="444D26">
                      <a:shade val="75000"/>
                      <a:alpha val="25000"/>
                    </a:srgbClr>
                  </a:solidFill>
                  <a:prstDash val="solid"/>
                  <a:round/>
                </a:ln>
                <a:solidFill>
                  <a:srgbClr val="FFFF00"/>
                </a:solidFill>
              </a:rPr>
              <a:t> ПЗ</a:t>
            </a:r>
            <a:endParaRPr lang="uk-UA" dirty="0">
              <a:solidFill>
                <a:srgbClr val="FFFF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5266928" cy="464130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uk-UA" dirty="0"/>
              <a:t>У 2026 році </a:t>
            </a:r>
            <a:r>
              <a:rPr lang="en-US" dirty="0"/>
              <a:t>AI-</a:t>
            </a:r>
            <a:r>
              <a:rPr lang="uk-UA" dirty="0"/>
              <a:t>агенти зможуть самостійно виконувати завдання розробника: створювати модулі програм, виправляти помилки, писати </a:t>
            </a:r>
            <a:r>
              <a:rPr lang="uk-UA" dirty="0" err="1"/>
              <a:t>юніт</a:t>
            </a:r>
            <a:r>
              <a:rPr lang="uk-UA" dirty="0"/>
              <a:t>-тести та оновлювати документацію. Інженер ПЗ контролюватиме процес і прийматиме фінальні рішення, що підвищить швидкість розробки та якість продукту.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1556792"/>
            <a:ext cx="3024336" cy="216024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616" y="3717016"/>
            <a:ext cx="3057952" cy="2448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475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1196752"/>
            <a:ext cx="8291264" cy="4899248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uk-UA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Генератори зображень зі штучним інтелектом, які перетворюють текст на зображення, стали найсучаснішим інструментом використання штучного інтелекту (ШІ) для перетворення письмових описів у візуальне мистецтво. У цьому процесі ШІ аналізує текст, розуміючи контекст, об'єкти, атрибути та емоції. Потім він отримує доступ до великої бази даних зображень і художніх стилів, щоб створити унікальний витвір мистецтва, який відповідає текстовому опису.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29600" cy="648072"/>
          </a:xfrm>
        </p:spPr>
        <p:txBody>
          <a:bodyPr>
            <a:normAutofit fontScale="90000"/>
          </a:bodyPr>
          <a:lstStyle/>
          <a:p>
            <a:pPr algn="ctr"/>
            <a:r>
              <a:rPr lang="uk-UA" b="1" dirty="0" smtClean="0">
                <a:solidFill>
                  <a:srgbClr val="242424"/>
                </a:solidFill>
                <a:effectLst/>
                <a:latin typeface="system-ui"/>
              </a:rPr>
              <a:t/>
            </a:r>
            <a:br>
              <a:rPr lang="uk-UA" b="1" dirty="0" smtClean="0">
                <a:solidFill>
                  <a:srgbClr val="242424"/>
                </a:solidFill>
                <a:effectLst/>
                <a:latin typeface="system-ui"/>
              </a:rPr>
            </a:br>
            <a:r>
              <a:rPr lang="uk-UA" b="1" dirty="0" smtClean="0">
                <a:solidFill>
                  <a:srgbClr val="242424"/>
                </a:solidFill>
                <a:effectLst/>
                <a:latin typeface="system-ui"/>
              </a:rPr>
              <a:t/>
            </a:r>
            <a:br>
              <a:rPr lang="uk-UA" b="1" dirty="0" smtClean="0">
                <a:solidFill>
                  <a:srgbClr val="242424"/>
                </a:solidFill>
                <a:effectLst/>
                <a:latin typeface="system-ui"/>
              </a:rPr>
            </a:br>
            <a:r>
              <a:rPr lang="uk-UA" b="1" dirty="0">
                <a:solidFill>
                  <a:srgbClr val="242424"/>
                </a:solidFill>
                <a:effectLst/>
                <a:latin typeface="system-ui"/>
              </a:rPr>
              <a:t/>
            </a:r>
            <a:br>
              <a:rPr lang="uk-UA" b="1" dirty="0">
                <a:solidFill>
                  <a:srgbClr val="242424"/>
                </a:solidFill>
                <a:effectLst/>
                <a:latin typeface="system-ui"/>
              </a:rPr>
            </a:br>
            <a:r>
              <a:rPr lang="uk-UA" sz="4400" b="1" dirty="0" smtClean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Segoe UI Emoji" panose="020B0502040204020203" pitchFamily="34" charset="0"/>
                <a:cs typeface="Times New Roman" panose="02020603050405020304" pitchFamily="18" charset="0"/>
              </a:rPr>
              <a:t>АІ-генератори </a:t>
            </a:r>
            <a:r>
              <a:rPr lang="uk-UA" sz="4400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Segoe UI Emoji" panose="020B0502040204020203" pitchFamily="34" charset="0"/>
                <a:cs typeface="Times New Roman" panose="02020603050405020304" pitchFamily="18" charset="0"/>
              </a:rPr>
              <a:t>зображень</a:t>
            </a:r>
            <a:br>
              <a:rPr lang="uk-UA" sz="4400" b="1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Segoe UI Emoji" panose="020B0502040204020203" pitchFamily="34" charset="0"/>
                <a:cs typeface="Times New Roman" panose="02020603050405020304" pitchFamily="18" charset="0"/>
              </a:rPr>
            </a:br>
            <a:endParaRPr lang="uk-UA" sz="4400" dirty="0">
              <a:solidFill>
                <a:srgbClr val="FFFF00"/>
              </a:solidFill>
              <a:latin typeface="Times New Roman" panose="02020603050405020304" pitchFamily="18" charset="0"/>
              <a:ea typeface="Segoe UI Emoji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85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67544" y="2204864"/>
            <a:ext cx="8280920" cy="4104456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uk-UA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Один з найвідоміших ШІ-генераторів зображень - </a:t>
            </a:r>
            <a:r>
              <a:rPr lang="en-US" dirty="0" err="1">
                <a:solidFill>
                  <a:srgbClr val="1B8ADE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Artbreeder</a:t>
            </a:r>
            <a:r>
              <a:rPr lang="en-US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який покращує якість зображень. Цей інструмент використовує машинне навчання для створення різних варіацій зображень. На одній платформі можна створювати пейзажі, </a:t>
            </a:r>
            <a:r>
              <a:rPr lang="uk-UA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анімовані</a:t>
            </a:r>
            <a:r>
              <a:rPr lang="uk-UA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фігури, портрети та інші витвори мистецтва. </a:t>
            </a:r>
            <a:r>
              <a:rPr lang="en-US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Artbreeder</a:t>
            </a:r>
            <a:r>
              <a:rPr lang="en-US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також пропонує можливість змінювати риси обличчя, такі як колір шкіри, волосся та очей, і перетворювати фотографії на </a:t>
            </a:r>
            <a:r>
              <a:rPr lang="uk-UA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анімовані</a:t>
            </a:r>
            <a:r>
              <a:rPr lang="uk-UA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зображення. Ці інструменти не лише змінюють спосіб створення візуального контенту, а й розширюють межі творчого потенціалу ШІ та стирають межі між технологіями та мистецтвом. 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32656"/>
            <a:ext cx="8208912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6280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err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Повна</a:t>
            </a:r>
            <a:r>
              <a:rPr lang="ru-RU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автоматизація</a:t>
            </a:r>
            <a:r>
              <a:rPr lang="ru-RU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lang="ru-RU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endParaRPr lang="uk-UA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906888" cy="4572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ШІ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зможе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прогнозувати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помилки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запуску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автоматично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будувати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CI/CD-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оптимізувати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продуктивність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зменшить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кількість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збоїв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зробить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стабільнішим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безпечнішим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00808"/>
            <a:ext cx="3401181" cy="1516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018" y="3309671"/>
            <a:ext cx="3384376" cy="3016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143212"/>
            <a:ext cx="4752528" cy="1094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545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74320" lvl="0" indent="-274320" algn="ctr">
              <a:spcBef>
                <a:spcPts val="600"/>
              </a:spcBef>
            </a:pPr>
            <a:r>
              <a:rPr lang="uk-UA" sz="3200" b="1" spc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Персоналізоване навчання інженерів ПЗ</a:t>
            </a:r>
            <a:br>
              <a:rPr lang="uk-UA" sz="3200" b="1" spc="0" dirty="0">
                <a:ln>
                  <a:noFill/>
                </a:ln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uk-UA" sz="3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546848" cy="4572000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ШІ-платформи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аналізуватимуть рівень знань розробника та формуватимуть індивідуальні навчальні траєкторії. Кожен інженер зможе швидше опановувати нові мови програмування,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фреймворки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підходи до розробки.</a:t>
            </a:r>
          </a:p>
          <a:p>
            <a:endParaRPr lang="uk-UA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484784"/>
            <a:ext cx="3630613" cy="903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492896"/>
            <a:ext cx="3600400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7993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4500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ШІ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треба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застосовувати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певних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умовах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 не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сліпо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використовувати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довіряти</a:t>
            </a:r>
            <a:r>
              <a:rPr lang="ru-RU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4500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Сліпо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довіряти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всім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варто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Штучний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інтелект</a:t>
            </a:r>
            <a:r>
              <a:rPr lang="ru-RU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повинен стати </a:t>
            </a:r>
            <a:r>
              <a:rPr lang="ru-RU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помічником</a:t>
            </a:r>
            <a:r>
              <a:rPr lang="ru-RU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його</a:t>
            </a:r>
            <a:r>
              <a:rPr lang="ru-RU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боятися</a:t>
            </a:r>
            <a:r>
              <a:rPr lang="ru-RU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варто</a:t>
            </a:r>
            <a:r>
              <a:rPr lang="ru-RU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4500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конкурент, не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загроза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 велика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можливість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ефективної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45000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ru-RU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Доречі</a:t>
            </a:r>
            <a:r>
              <a:rPr lang="ru-RU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зниження</a:t>
            </a:r>
            <a:r>
              <a:rPr lang="ru-RU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вартості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 та ШІ-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сервісів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60–80%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робить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їх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доступними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студентів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стартапів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і невеликих команд.</a:t>
            </a:r>
          </a:p>
          <a:p>
            <a:pPr indent="450000" algn="just">
              <a:lnSpc>
                <a:spcPct val="110000"/>
              </a:lnSpc>
              <a:spcBef>
                <a:spcPts val="0"/>
              </a:spcBef>
            </a:pPr>
            <a:endParaRPr lang="ru-RU" dirty="0" smtClean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uk-UA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 smtClean="0"/>
              <a:t>Висновок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1275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році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людина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 не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штучний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інтелект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стане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носієм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інформації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архітектором</a:t>
            </a:r>
            <a:r>
              <a:rPr lang="ru-RU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керівником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процесів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штучний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інтелект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потужним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інструментом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реалізації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ідей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Такі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досягнення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можуть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бути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корисними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суспільства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умови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відповідального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етичного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</a:t>
            </a:r>
            <a:r>
              <a:rPr lang="ru-RU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ШІ.</a:t>
            </a:r>
          </a:p>
          <a:p>
            <a:pPr algn="just"/>
            <a:endParaRPr lang="uk-UA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47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193</TotalTime>
  <Words>436</Words>
  <Application>Microsoft Office PowerPoint</Application>
  <PresentationFormat>Экран (4:3)</PresentationFormat>
  <Paragraphs>28</Paragraphs>
  <Slides>10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Бумажная</vt:lpstr>
      <vt:lpstr> Майбутнє ШІ у 2026:  що чекає на нас після проривів 2025 року? </vt:lpstr>
      <vt:lpstr>Чи варто сліпо довіряти штучному інтелекту?</vt:lpstr>
      <vt:lpstr>Майбутнє ШІ у 2026 році</vt:lpstr>
      <vt:lpstr>Автономні AI-агенти в розробці ПЗ</vt:lpstr>
      <vt:lpstr>   АІ-генератори зображень </vt:lpstr>
      <vt:lpstr>Презентация PowerPoint</vt:lpstr>
      <vt:lpstr>Повна  автоматизація тестування та DevOps</vt:lpstr>
      <vt:lpstr>Персоналізоване навчання інженерів ПЗ </vt:lpstr>
      <vt:lpstr>Висновок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PC</dc:creator>
  <cp:lastModifiedBy>PC</cp:lastModifiedBy>
  <cp:revision>14</cp:revision>
  <dcterms:created xsi:type="dcterms:W3CDTF">2026-01-24T17:40:53Z</dcterms:created>
  <dcterms:modified xsi:type="dcterms:W3CDTF">2026-01-24T20:54:15Z</dcterms:modified>
</cp:coreProperties>
</file>